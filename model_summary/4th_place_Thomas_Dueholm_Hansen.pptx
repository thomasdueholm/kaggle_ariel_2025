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1" r:id="rId12"/>
    <p:sldMasterId id="2147483663" r:id="rId13"/>
    <p:sldMasterId id="2147483665" r:id="rId14"/>
    <p:sldMasterId id="2147483667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8331B36-3B90-4D46-A3C4-5CF40BA41C1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Recommending picking out he most interesting and important parts from your documentation.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281254-B7B5-48B1-B4F5-A988CED2C59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44272F-BC5D-42B7-893F-DD11D81EB73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D25F77-9769-4B8D-9FD8-A39F4AC00FF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47DB3A-F471-40CD-A20E-3094985D2DC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DBF8A9-6CBE-463F-8DB6-74E1A1B3C9F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315418-9F88-4D19-B530-078E0A25FAD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0BC69B-6CEF-4F7B-997E-C24A80940B5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5FD965-CE4E-4F73-B020-B60BF61EC3A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86D0D2-655D-4F92-84E8-155BF09EA1D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5A3FB8-7BA6-4A89-8A2A-3C7518B4DE5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98FEBE-A89F-4E3E-BD44-1A28E60982D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407BD2-2394-480E-973E-79DFCF1FC7E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C3F31D-0899-484B-AD40-407DB934167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E3A30E-6E35-4D72-8A19-450B943D8EB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C594E2-4DA5-4355-9615-D4A63ED89D6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B0EE35-DBFD-432E-9E65-BFB27C4CDB9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740CA9-DE30-412D-A1D1-D997C765D40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A4645A-9CBC-401A-BB1D-824ACB15D53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6553C1-810E-4664-9F18-A70CD1946FF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D18754-C025-4F47-A4F5-632DE03D349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51E4D1-3D34-4B4A-99F5-D4C65671F89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ECA50C-EB2E-47BA-A96F-6D0E568A53D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33ECCE-AB17-4B0E-BEDF-E1BAF7DF483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128E324-CC7A-4F46-AD45-C7105232CE2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920F27-DEB8-4C1F-AFA9-19BCEF8D47A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00A532-1A92-4AE8-9629-08C0F47CE06D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74D21E3-6F51-4966-8DC5-6B87B82A4C0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A13B2B-1190-4846-B867-849BFBE8006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59985F-8F1A-4B54-8AA2-5B3CEB3008A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0440" y="361440"/>
            <a:ext cx="8237160" cy="271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24"/>
          <p:cNvSpPr/>
          <p:nvPr/>
        </p:nvSpPr>
        <p:spPr>
          <a:xfrm>
            <a:off x="3115800" y="4794840"/>
            <a:ext cx="28436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4</a:t>
            </a:r>
            <a:r>
              <a:rPr b="0" lang="en-US" sz="800" spc="-1" strike="noStrike" baseline="33000">
                <a:solidFill>
                  <a:srgbClr val="929292"/>
                </a:solidFill>
                <a:latin typeface="Inter"/>
                <a:ea typeface="Inter"/>
              </a:rPr>
              <a:t>th</a:t>
            </a: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 Place Winning Solution, Thomas Dueholm Hansen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Google Shape;17;p24" descr=""/>
          <p:cNvPicPr/>
          <p:nvPr/>
        </p:nvPicPr>
        <p:blipFill>
          <a:blip r:embed="rId2"/>
          <a:stretch/>
        </p:blipFill>
        <p:spPr>
          <a:xfrm>
            <a:off x="227160" y="4794840"/>
            <a:ext cx="557280" cy="21492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0D7DDA-9C75-4297-8F93-4C00ED023CFF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85840" y="2648520"/>
            <a:ext cx="7638840" cy="150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21;p25"/>
          <p:cNvSpPr/>
          <p:nvPr/>
        </p:nvSpPr>
        <p:spPr>
          <a:xfrm flipH="1">
            <a:off x="8088480" y="3718440"/>
            <a:ext cx="20088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57160" y="427680"/>
            <a:ext cx="7429320" cy="5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57160" y="957240"/>
            <a:ext cx="7429320" cy="358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Google Shape;25;p26"/>
          <p:cNvSpPr/>
          <p:nvPr/>
        </p:nvSpPr>
        <p:spPr>
          <a:xfrm>
            <a:off x="563760" y="610560"/>
            <a:ext cx="20088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Google Shape;29;p27"/>
          <p:cNvSpPr/>
          <p:nvPr/>
        </p:nvSpPr>
        <p:spPr>
          <a:xfrm>
            <a:off x="463320" y="3461040"/>
            <a:ext cx="20088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57160" y="427680"/>
            <a:ext cx="7429320" cy="5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34;p28"/>
          <p:cNvSpPr/>
          <p:nvPr/>
        </p:nvSpPr>
        <p:spPr>
          <a:xfrm>
            <a:off x="563760" y="610560"/>
            <a:ext cx="20088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57160" y="427680"/>
            <a:ext cx="7429320" cy="5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96552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1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144540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55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45080" y="96552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1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645080" y="144540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55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Google Shape;41;p29"/>
          <p:cNvSpPr/>
          <p:nvPr/>
        </p:nvSpPr>
        <p:spPr>
          <a:xfrm>
            <a:off x="563760" y="610560"/>
            <a:ext cx="20088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57160" y="427680"/>
            <a:ext cx="7429320" cy="5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04880" y="470520"/>
            <a:ext cx="2703240" cy="78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738600" y="470160"/>
            <a:ext cx="4593600" cy="394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704880" y="1254600"/>
            <a:ext cx="2703240" cy="316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0707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48;p31"/>
          <p:cNvSpPr/>
          <p:nvPr/>
        </p:nvSpPr>
        <p:spPr>
          <a:xfrm>
            <a:off x="425160" y="786240"/>
            <a:ext cx="20088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6;p24"/>
          <p:cNvSpPr/>
          <p:nvPr/>
        </p:nvSpPr>
        <p:spPr>
          <a:xfrm>
            <a:off x="3115800" y="4794840"/>
            <a:ext cx="28436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4</a:t>
            </a:r>
            <a:r>
              <a:rPr b="0" lang="en-US" sz="800" spc="-1" strike="noStrike" baseline="33000">
                <a:solidFill>
                  <a:srgbClr val="929292"/>
                </a:solidFill>
                <a:latin typeface="Inter"/>
                <a:ea typeface="Inter"/>
              </a:rPr>
              <a:t>th</a:t>
            </a: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 Place Winning Solution, Thomas Dueholm Hansen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Google Shape;17;p24" descr=""/>
          <p:cNvPicPr/>
          <p:nvPr/>
        </p:nvPicPr>
        <p:blipFill>
          <a:blip r:embed="rId2"/>
          <a:stretch/>
        </p:blipFill>
        <p:spPr>
          <a:xfrm>
            <a:off x="227160" y="4794840"/>
            <a:ext cx="557280" cy="214920"/>
          </a:xfrm>
          <a:prstGeom prst="rect">
            <a:avLst/>
          </a:prstGeom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sldNum" idx="2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1566F1-3BFD-4346-9898-0D11E95D6976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6;p24"/>
          <p:cNvSpPr/>
          <p:nvPr/>
        </p:nvSpPr>
        <p:spPr>
          <a:xfrm>
            <a:off x="3115800" y="4794840"/>
            <a:ext cx="28436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4</a:t>
            </a:r>
            <a:r>
              <a:rPr b="0" lang="en-US" sz="800" spc="-1" strike="noStrike" baseline="33000">
                <a:solidFill>
                  <a:srgbClr val="929292"/>
                </a:solidFill>
                <a:latin typeface="Inter"/>
                <a:ea typeface="Inter"/>
              </a:rPr>
              <a:t>th</a:t>
            </a: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 Place Winning Solution, Thomas Dueholm Hansen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Google Shape;17;p24" descr=""/>
          <p:cNvPicPr/>
          <p:nvPr/>
        </p:nvPicPr>
        <p:blipFill>
          <a:blip r:embed="rId2"/>
          <a:stretch/>
        </p:blipFill>
        <p:spPr>
          <a:xfrm>
            <a:off x="227160" y="4794840"/>
            <a:ext cx="557280" cy="214920"/>
          </a:xfrm>
          <a:prstGeom prst="rect">
            <a:avLst/>
          </a:prstGeom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sldNum" idx="3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52EA04-04BA-4FD6-86AF-4BCB3AEDDB9E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6;p24"/>
          <p:cNvSpPr/>
          <p:nvPr/>
        </p:nvSpPr>
        <p:spPr>
          <a:xfrm>
            <a:off x="3115800" y="4794840"/>
            <a:ext cx="28436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4</a:t>
            </a:r>
            <a:r>
              <a:rPr b="0" lang="en-US" sz="800" spc="-1" strike="noStrike" baseline="33000">
                <a:solidFill>
                  <a:srgbClr val="929292"/>
                </a:solidFill>
                <a:latin typeface="Inter"/>
                <a:ea typeface="Inter"/>
              </a:rPr>
              <a:t>th</a:t>
            </a: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 Place Winning Solution, Thomas Dueholm Hansen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Google Shape;17;p24" descr=""/>
          <p:cNvPicPr/>
          <p:nvPr/>
        </p:nvPicPr>
        <p:blipFill>
          <a:blip r:embed="rId2"/>
          <a:stretch/>
        </p:blipFill>
        <p:spPr>
          <a:xfrm>
            <a:off x="227160" y="4794840"/>
            <a:ext cx="557280" cy="2149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sldNum" idx="4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9A2E10-6F98-4EAB-AC55-A94FC29CC03D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16;p24"/>
          <p:cNvSpPr/>
          <p:nvPr/>
        </p:nvSpPr>
        <p:spPr>
          <a:xfrm>
            <a:off x="3115800" y="4794840"/>
            <a:ext cx="28436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4</a:t>
            </a:r>
            <a:r>
              <a:rPr b="0" lang="en-US" sz="800" spc="-1" strike="noStrike" baseline="33000">
                <a:solidFill>
                  <a:srgbClr val="929292"/>
                </a:solidFill>
                <a:latin typeface="Inter"/>
                <a:ea typeface="Inter"/>
              </a:rPr>
              <a:t>th</a:t>
            </a: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 Place Winning Solution, Thomas </a:t>
            </a: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Dueholm Hansen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Google Shape;17;p24" descr=""/>
          <p:cNvPicPr/>
          <p:nvPr/>
        </p:nvPicPr>
        <p:blipFill>
          <a:blip r:embed="rId2"/>
          <a:stretch/>
        </p:blipFill>
        <p:spPr>
          <a:xfrm>
            <a:off x="227160" y="4794840"/>
            <a:ext cx="557280" cy="214920"/>
          </a:xfrm>
          <a:prstGeom prst="rect">
            <a:avLst/>
          </a:prstGeom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sldNum" idx="5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64B9B5-65F5-4D62-94B4-C3BA75FBCE35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6;p24"/>
          <p:cNvSpPr/>
          <p:nvPr/>
        </p:nvSpPr>
        <p:spPr>
          <a:xfrm>
            <a:off x="3115800" y="4794840"/>
            <a:ext cx="28436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4</a:t>
            </a:r>
            <a:r>
              <a:rPr b="0" lang="en-US" sz="800" spc="-1" strike="noStrike" baseline="33000">
                <a:solidFill>
                  <a:srgbClr val="929292"/>
                </a:solidFill>
                <a:latin typeface="Inter"/>
                <a:ea typeface="Inter"/>
              </a:rPr>
              <a:t>th</a:t>
            </a:r>
            <a:r>
              <a:rPr b="0" lang="en-US" sz="800" spc="-1" strike="noStrike">
                <a:solidFill>
                  <a:srgbClr val="929292"/>
                </a:solidFill>
                <a:latin typeface="Inter"/>
                <a:ea typeface="Inter"/>
              </a:rPr>
              <a:t> Place Winning Solution, Thomas Dueholm Hansen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Google Shape;17;p24" descr=""/>
          <p:cNvPicPr/>
          <p:nvPr/>
        </p:nvPicPr>
        <p:blipFill>
          <a:blip r:embed="rId2"/>
          <a:stretch/>
        </p:blipFill>
        <p:spPr>
          <a:xfrm>
            <a:off x="227160" y="4794840"/>
            <a:ext cx="557280" cy="21492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sldNum" idx="6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FDCA79-B15B-4103-9DA2-D1384938033E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6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54;p1"/>
          <p:cNvSpPr/>
          <p:nvPr/>
        </p:nvSpPr>
        <p:spPr>
          <a:xfrm>
            <a:off x="-190440" y="0"/>
            <a:ext cx="941040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9320" y="1357200"/>
            <a:ext cx="6705360" cy="1199880"/>
          </a:xfrm>
          <a:prstGeom prst="rect">
            <a:avLst/>
          </a:prstGeom>
          <a:noFill/>
          <a:ln w="0">
            <a:noFill/>
          </a:ln>
        </p:spPr>
        <p:txBody>
          <a:bodyPr lIns="360000" rIns="91440" tIns="360000" bIns="360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Inter"/>
                <a:ea typeface="Inter"/>
              </a:rPr>
              <a:t>NeurIPS - Ariel Data </a:t>
            </a:r>
            <a:br>
              <a:rPr sz="3000"/>
            </a:br>
            <a:r>
              <a:rPr b="1" lang="en-US" sz="3000" spc="-1" strike="noStrike">
                <a:solidFill>
                  <a:schemeClr val="dk1"/>
                </a:solidFill>
                <a:latin typeface="Inter"/>
                <a:ea typeface="Inter"/>
              </a:rPr>
              <a:t>Challenge 2025: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Google Shape;56;p1" descr=""/>
          <p:cNvPicPr/>
          <p:nvPr/>
        </p:nvPicPr>
        <p:blipFill>
          <a:blip r:embed="rId1"/>
          <a:stretch/>
        </p:blipFill>
        <p:spPr>
          <a:xfrm>
            <a:off x="4152960" y="285840"/>
            <a:ext cx="837720" cy="323280"/>
          </a:xfrm>
          <a:prstGeom prst="rect">
            <a:avLst/>
          </a:prstGeom>
          <a:ln w="0">
            <a:noFill/>
          </a:ln>
        </p:spPr>
      </p:pic>
      <p:pic>
        <p:nvPicPr>
          <p:cNvPr id="66" name="Google Shape;57;p1" descr=""/>
          <p:cNvPicPr/>
          <p:nvPr/>
        </p:nvPicPr>
        <p:blipFill>
          <a:blip r:embed="rId2"/>
          <a:stretch/>
        </p:blipFill>
        <p:spPr>
          <a:xfrm rot="454800">
            <a:off x="-1228320" y="3218040"/>
            <a:ext cx="4189320" cy="2440080"/>
          </a:xfrm>
          <a:prstGeom prst="rect">
            <a:avLst/>
          </a:prstGeom>
          <a:ln w="0">
            <a:noFill/>
          </a:ln>
        </p:spPr>
      </p:pic>
      <p:pic>
        <p:nvPicPr>
          <p:cNvPr id="67" name="Google Shape;58;p1" descr=""/>
          <p:cNvPicPr/>
          <p:nvPr/>
        </p:nvPicPr>
        <p:blipFill>
          <a:blip r:embed="rId3"/>
          <a:stretch/>
        </p:blipFill>
        <p:spPr>
          <a:xfrm rot="2982600">
            <a:off x="6157440" y="-468360"/>
            <a:ext cx="5190120" cy="296460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59;p1"/>
          <p:cNvSpPr/>
          <p:nvPr/>
        </p:nvSpPr>
        <p:spPr>
          <a:xfrm>
            <a:off x="2248200" y="3215520"/>
            <a:ext cx="46479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Thomas Dueholm Hansen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59;p 1"/>
          <p:cNvSpPr/>
          <p:nvPr/>
        </p:nvSpPr>
        <p:spPr>
          <a:xfrm>
            <a:off x="1791000" y="2484000"/>
            <a:ext cx="55623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Inter"/>
                <a:ea typeface="Inter"/>
              </a:rPr>
              <a:t>4</a:t>
            </a:r>
            <a:r>
              <a:rPr b="0" lang="en-US" sz="3000" spc="-1" strike="noStrike" baseline="33000">
                <a:solidFill>
                  <a:schemeClr val="dk1"/>
                </a:solidFill>
                <a:latin typeface="Inter"/>
                <a:ea typeface="Inter"/>
              </a:rPr>
              <a:t>th</a:t>
            </a:r>
            <a:r>
              <a:rPr b="0" lang="en-US" sz="3000" spc="-1" strike="noStrike">
                <a:solidFill>
                  <a:schemeClr val="dk1"/>
                </a:solidFill>
                <a:latin typeface="Inter"/>
                <a:ea typeface="Inter"/>
              </a:rPr>
              <a:t> Place Winning Solution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91;p5"/>
          <p:cNvSpPr/>
          <p:nvPr/>
        </p:nvSpPr>
        <p:spPr>
          <a:xfrm>
            <a:off x="552600" y="751680"/>
            <a:ext cx="6413400" cy="37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1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PhD</a:t>
            </a: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 in computer science, Aarhus University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(2008 - 2012)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1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Postdocs</a:t>
            </a: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: Tel Aviv </a:t>
            </a: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University and Stanford University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1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Assistant professor</a:t>
            </a: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: Aarhus University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1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Associate professor</a:t>
            </a: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: The University of Copenhagen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Specialty: </a:t>
            </a:r>
            <a:r>
              <a:rPr b="1" lang="en-US" sz="1800" spc="-1" strike="noStrike">
                <a:solidFill>
                  <a:srgbClr val="ff0000"/>
                </a:solidFill>
                <a:latin typeface="Inter"/>
                <a:ea typeface="Inter"/>
              </a:rPr>
              <a:t>Algorithms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Quantitative analyst at Nordea, </a:t>
            </a:r>
            <a:r>
              <a:rPr b="1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fixed income </a:t>
            </a: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(2019)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Quantitative trader at Nordea, </a:t>
            </a:r>
            <a:r>
              <a:rPr b="1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FX spot </a:t>
            </a: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(until 2022)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Extended sabbatical: Learning about machine learning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1" lang="en-US" sz="1800" spc="-1" strike="noStrike">
                <a:solidFill>
                  <a:schemeClr val="dk1"/>
                </a:solidFill>
                <a:latin typeface="Inter"/>
                <a:ea typeface="Inter"/>
              </a:rPr>
              <a:t>Kaggle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sldNum" idx="10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E77DB3-64B9-4FE9-A1F6-733BE43BF660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Google Shape;93;p5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Who am I?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3" name="Google Shape;94;p5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7929000" y="685800"/>
            <a:ext cx="799200" cy="68580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7965000" y="1456200"/>
            <a:ext cx="685800" cy="68580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3"/>
          <a:stretch/>
        </p:blipFill>
        <p:spPr>
          <a:xfrm>
            <a:off x="7520400" y="2142000"/>
            <a:ext cx="1600200" cy="900000"/>
          </a:xfrm>
          <a:prstGeom prst="rect">
            <a:avLst/>
          </a:prstGeom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4"/>
          <a:stretch/>
        </p:blipFill>
        <p:spPr>
          <a:xfrm>
            <a:off x="8001000" y="3034440"/>
            <a:ext cx="647640" cy="81576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5"/>
          <a:stretch/>
        </p:blipFill>
        <p:spPr>
          <a:xfrm>
            <a:off x="7977960" y="3947400"/>
            <a:ext cx="674640" cy="67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00;p6"/>
          <p:cNvSpPr/>
          <p:nvPr/>
        </p:nvSpPr>
        <p:spPr>
          <a:xfrm>
            <a:off x="734400" y="3313080"/>
            <a:ext cx="765180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Problem: Estimate the radius of the planet for a range of wavelengths.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Purpose: Understand the composition of the atmosphere.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sldNum" idx="11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D4B05B-6468-4E91-A016-C579C4F2EA00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Google Shape;102;p6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Problem description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2" name="Google Shape;103;p6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685800" y="757800"/>
            <a:ext cx="7767360" cy="256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00;p 1"/>
          <p:cNvSpPr/>
          <p:nvPr/>
        </p:nvSpPr>
        <p:spPr>
          <a:xfrm>
            <a:off x="1219320" y="997200"/>
            <a:ext cx="60195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3320" indent="-28332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Explicit simulation of a planet moving in front of a star (with JAX)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Non-trivial optimization of a model with a small number of parameters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Simple, independent models for: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Transit depth: Linear regression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Standard deviation: Neural network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Principal component analysis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sldNum" idx="12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F59304-AB52-4837-9621-8030B908E620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Google Shape;102;p 2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Summary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Google Shape;103;p 2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74;p3"/>
          <p:cNvSpPr/>
          <p:nvPr/>
        </p:nvSpPr>
        <p:spPr>
          <a:xfrm>
            <a:off x="1447920" y="897840"/>
            <a:ext cx="5638680" cy="32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457200">
              <a:lnSpc>
                <a:spcPct val="150000"/>
              </a:lnSpc>
              <a:buClr>
                <a:srgbClr val="262626"/>
              </a:buClr>
              <a:buFont typeface="OpenSymbo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Preprocessing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262626"/>
              </a:buClr>
              <a:buFont typeface="OpenSymbo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Initial solution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262626"/>
              </a:buClr>
              <a:buFont typeface="OpenSymbo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Explicit simulation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262626"/>
              </a:buClr>
              <a:buFont typeface="OpenSymbo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Transit depth estimation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262626"/>
              </a:buClr>
              <a:buFont typeface="OpenSymbo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Uncertainty estimation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262626"/>
              </a:buClr>
              <a:buFont typeface="OpenSymbo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Principal component analysis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262626"/>
              </a:buClr>
              <a:buFont typeface="OpenSymbo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Inter"/>
                <a:ea typeface="Inter"/>
              </a:rPr>
              <a:t>Ensemble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sldNum" idx="13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52D9A9-E49F-44FA-B50E-6B9C15532D6B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76;p3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Model overview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1" name="Google Shape;77;p3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117;p 2"/>
          <p:cNvSpPr/>
          <p:nvPr/>
        </p:nvSpPr>
        <p:spPr>
          <a:xfrm>
            <a:off x="271800" y="721440"/>
            <a:ext cx="3771000" cy="44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Calibration as suggested by organizers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Hot and dead pixels replaced by linear interpolation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4 neighbors for FGS1, 2 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neighbors for AIRS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Except 4 most important pixels for AIRS: Discard entire wavelength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Discard outliers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Subtract foreground noise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Inspired by last year’s 1</a:t>
            </a:r>
            <a:r>
              <a:rPr b="0" lang="en-US" sz="1600" spc="-1" strike="noStrike" baseline="33000">
                <a:solidFill>
                  <a:schemeClr val="dk1"/>
                </a:solidFill>
                <a:latin typeface="Inter"/>
                <a:ea typeface="Inter"/>
              </a:rPr>
              <a:t>st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 place solution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sldNum" idx="14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A18352-D036-41B7-80A2-2013127104F0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Google Shape;119;p 2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Preprocessing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5" name="Google Shape;120;p 2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4102200" y="829440"/>
            <a:ext cx="4854600" cy="155340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2"/>
          <a:stretch/>
        </p:blipFill>
        <p:spPr>
          <a:xfrm>
            <a:off x="4102200" y="2550600"/>
            <a:ext cx="4854600" cy="155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17;p 7"/>
          <p:cNvSpPr/>
          <p:nvPr/>
        </p:nvSpPr>
        <p:spPr>
          <a:xfrm>
            <a:off x="115200" y="450360"/>
            <a:ext cx="3771000" cy="41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AIRS data: Sum over spectrum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Kalman Smoother applied to Local Trend Model: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Breakpoints: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Transit start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Most negative trend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Transit middle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Most positive trend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Transit end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15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13A3C9-61BD-4DC1-B960-64CC0C862057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Google Shape;119;p 7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Initial transit window estimation (baseline solution)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" name="Google Shape;120;p 7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886200" y="685800"/>
            <a:ext cx="5082480" cy="4023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613800" y="1718280"/>
            <a:ext cx="3067920" cy="86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17;p 13"/>
          <p:cNvSpPr/>
          <p:nvPr/>
        </p:nvSpPr>
        <p:spPr>
          <a:xfrm>
            <a:off x="421200" y="558360"/>
            <a:ext cx="7657200" cy="12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Remove transit data and reapply Kalman Smoother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Transit depth: Gap between level with and without transit data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Incomplete transits: Linear approximation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sldNum" idx="16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C62B7A-74CA-4DD3-B446-1618A1C0F45A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Google Shape;119;p 12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Initial depth estimation (baseline solution)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7" name="Google Shape;120;p 12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1520640" y="1770840"/>
            <a:ext cx="6167160" cy="274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17;p 11"/>
          <p:cNvSpPr/>
          <p:nvPr/>
        </p:nvSpPr>
        <p:spPr>
          <a:xfrm>
            <a:off x="264600" y="3643560"/>
            <a:ext cx="842220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Limb darkening: Lower intensity toward the edge (limb)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Computation with JAX: Discrete integral over layers of the star, scaled by intensity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Memory intensive, the computational bottleneck for my solution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sldNum" idx="17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687F56-48DA-4E6F-9E8D-2EAFB6FB3771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Google Shape;119;p 11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Explicit simulation of limb darkening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2" name="Google Shape;120;p 11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3429000" y="3249000"/>
            <a:ext cx="5029200" cy="33732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2"/>
          <a:stretch/>
        </p:blipFill>
        <p:spPr>
          <a:xfrm>
            <a:off x="752400" y="705600"/>
            <a:ext cx="7548480" cy="249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Num" idx="18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21D0D1-DBF8-4F78-83B8-AF3AF01809D9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Google Shape;119;p 6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Full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7" name="Google Shape;120;p 6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sp>
        <p:nvSpPr>
          <p:cNvPr id="118" name="Google Shape;117;p 6"/>
          <p:cNvSpPr/>
          <p:nvPr/>
        </p:nvSpPr>
        <p:spPr>
          <a:xfrm>
            <a:off x="127800" y="479160"/>
            <a:ext cx="8787600" cy="267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Full model 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(Inspired by last year’s 1</a:t>
            </a:r>
            <a:r>
              <a:rPr b="0" lang="en-US" sz="1600" spc="-1" strike="noStrike" baseline="33000">
                <a:solidFill>
                  <a:schemeClr val="dk1"/>
                </a:solidFill>
                <a:latin typeface="Inter"/>
                <a:ea typeface="Inter"/>
              </a:rPr>
              <a:t>st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 and 2</a:t>
            </a:r>
            <a:r>
              <a:rPr b="0" lang="en-US" sz="1600" spc="-1" strike="noStrike" baseline="33000">
                <a:solidFill>
                  <a:schemeClr val="dk1"/>
                </a:solidFill>
                <a:latin typeface="Inter"/>
                <a:ea typeface="Inter"/>
              </a:rPr>
              <a:t>nd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 place solutions):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Components: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Star intensity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Transit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Gain drift: Variation of the detector’s gain over time and across different wavelengths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117;p 12"/>
          <p:cNvSpPr/>
          <p:nvPr/>
        </p:nvSpPr>
        <p:spPr>
          <a:xfrm>
            <a:off x="271800" y="4039560"/>
            <a:ext cx="8415000" cy="91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914400" y="1251000"/>
            <a:ext cx="5628960" cy="279000"/>
          </a:xfrm>
          <a:prstGeom prst="rect">
            <a:avLst/>
          </a:prstGeom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4138200" y="3080520"/>
            <a:ext cx="4622760" cy="152784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22000" y="1130400"/>
            <a:ext cx="1985400" cy="125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Num" idx="19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01CB3C-A13F-4FA0-960E-0A31AE90B081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Google Shape;119;p 18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Full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5" name="Google Shape;120;p 18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sp>
        <p:nvSpPr>
          <p:cNvPr id="126" name="Google Shape;117;p 24"/>
          <p:cNvSpPr/>
          <p:nvPr/>
        </p:nvSpPr>
        <p:spPr>
          <a:xfrm>
            <a:off x="271800" y="4039560"/>
            <a:ext cx="8415000" cy="91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1686240" y="864000"/>
            <a:ext cx="5628960" cy="2790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1384200" y="3017520"/>
            <a:ext cx="6176880" cy="158832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3"/>
          <a:stretch/>
        </p:blipFill>
        <p:spPr>
          <a:xfrm>
            <a:off x="2509920" y="1371600"/>
            <a:ext cx="3662280" cy="1463760"/>
          </a:xfrm>
          <a:prstGeom prst="rect">
            <a:avLst/>
          </a:prstGeom>
          <a:ln w="0">
            <a:noFill/>
          </a:ln>
        </p:spPr>
      </p:pic>
      <p:sp>
        <p:nvSpPr>
          <p:cNvPr id="130" name=""/>
          <p:cNvSpPr txBox="1"/>
          <p:nvPr/>
        </p:nvSpPr>
        <p:spPr>
          <a:xfrm>
            <a:off x="4114800" y="1828800"/>
            <a:ext cx="457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=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208200" y="1828800"/>
            <a:ext cx="457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+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200400" y="3584520"/>
            <a:ext cx="457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*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200400" y="3584880"/>
            <a:ext cx="457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*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365800" y="3549600"/>
            <a:ext cx="457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*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Num" idx="20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67DBD2-84AB-4C33-AF6B-0F992FB4B854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Google Shape;119;p 17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Parameter optimization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7" name="Google Shape;120;p 17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sp>
        <p:nvSpPr>
          <p:cNvPr id="138" name="Google Shape;117;p 21"/>
          <p:cNvSpPr/>
          <p:nvPr/>
        </p:nvSpPr>
        <p:spPr>
          <a:xfrm>
            <a:off x="271800" y="803160"/>
            <a:ext cx="8415000" cy="38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Naive parameter optimization has poor performance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Do it carefully: </a:t>
            </a:r>
            <a:r>
              <a:rPr b="1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10 stages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Stages 1-3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: No spectrum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Identify d_min, t_min, t_length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Stage 4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: Broadcast parameters to full spectrum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Freeze u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Separate polynomial f for every wavelength. No </a:t>
            </a:r>
            <a:r>
              <a:rPr b="0" i="1" lang="en-US" sz="1600" spc="-1" strike="noStrike">
                <a:solidFill>
                  <a:schemeClr val="dk1"/>
                </a:solidFill>
                <a:latin typeface="TeX Gyre Termes Math"/>
                <a:ea typeface="Inter"/>
              </a:rPr>
              <a:t>I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 or 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Stages 5-10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: Alternate between optimizing gain drift and transit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f and g are polynomials of degree 4, </a:t>
            </a:r>
            <a:r>
              <a:rPr b="0" i="1" lang="en-US" sz="1600" spc="-1" strike="noStrike">
                <a:solidFill>
                  <a:schemeClr val="dk1"/>
                </a:solidFill>
                <a:latin typeface="TeX Gyre Termes Math"/>
                <a:ea typeface="Inter"/>
              </a:rPr>
              <a:t>I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 is a scalar for every wavelength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f, g, and u are regularized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Parameters for </a:t>
            </a:r>
            <a:r>
              <a:rPr b="0" i="1" lang="en-US" sz="1600" spc="-1" strike="noStrike">
                <a:solidFill>
                  <a:schemeClr val="dk1"/>
                </a:solidFill>
                <a:latin typeface="TeX Gyre Termes Math"/>
                <a:ea typeface="Inter"/>
              </a:rPr>
              <a:t>I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 and g are derived with linear regression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1600200" y="756000"/>
            <a:ext cx="5628960" cy="27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Num" idx="21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8E72A5-54EA-4101-BFEA-AC0DB4378F57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Google Shape;119;p 19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Spectrum smoothing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2" name="Google Shape;120;p 19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sp>
        <p:nvSpPr>
          <p:cNvPr id="143" name="Google Shape;117;p 22"/>
          <p:cNvSpPr/>
          <p:nvPr/>
        </p:nvSpPr>
        <p:spPr>
          <a:xfrm>
            <a:off x="271800" y="515160"/>
            <a:ext cx="8415000" cy="121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Predictions of r squared are noisy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Use a Kalman Smoother to reduce noise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This handles missing wavelengths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1595520" y="1949400"/>
            <a:ext cx="5948280" cy="263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17;p 8"/>
          <p:cNvSpPr/>
          <p:nvPr/>
        </p:nvSpPr>
        <p:spPr>
          <a:xfrm>
            <a:off x="487800" y="865440"/>
            <a:ext cx="8114400" cy="33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The final prediction of r squared is produced with </a:t>
            </a:r>
            <a:r>
              <a:rPr b="1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linear regression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FGS1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: 1 feature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r squared for FGS1 from </a:t>
            </a:r>
            <a:r>
              <a:rPr b="0" lang="en-US" sz="1600" spc="-1" strike="noStrike">
                <a:solidFill>
                  <a:srgbClr val="c9211e"/>
                </a:solidFill>
                <a:latin typeface="Inter"/>
                <a:ea typeface="Inter"/>
              </a:rPr>
              <a:t>stage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AIRS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: 3 or 4 features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The mean of the spectrum from </a:t>
            </a:r>
            <a:r>
              <a:rPr b="0" lang="en-US" sz="1600" spc="-1" strike="noStrike">
                <a:solidFill>
                  <a:srgbClr val="c9211e"/>
                </a:solidFill>
                <a:latin typeface="Inter"/>
                <a:ea typeface="Inter"/>
              </a:rPr>
              <a:t>stage 10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, broadcasted to all wavelengths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r squared for AIRS from </a:t>
            </a:r>
            <a:r>
              <a:rPr b="0" lang="en-US" sz="1600" spc="-1" strike="noStrike">
                <a:solidFill>
                  <a:srgbClr val="c9211e"/>
                </a:solidFill>
                <a:latin typeface="Inter"/>
                <a:ea typeface="Inter"/>
              </a:rPr>
              <a:t>stage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Inter"/>
                <a:ea typeface="Inter"/>
              </a:rPr>
              <a:t>The spectrum from </a:t>
            </a:r>
            <a:r>
              <a:rPr b="0" lang="en-US" sz="1600" spc="-1" strike="noStrike">
                <a:solidFill>
                  <a:srgbClr val="c9211e"/>
                </a:solidFill>
                <a:latin typeface="Inter"/>
                <a:ea typeface="Inter"/>
              </a:rPr>
              <a:t>stage 10</a:t>
            </a:r>
            <a:r>
              <a:rPr b="0" lang="en-US" sz="1600" spc="-1" strike="noStrike">
                <a:solidFill>
                  <a:srgbClr val="000000"/>
                </a:solidFill>
                <a:latin typeface="Inter"/>
                <a:ea typeface="Inter"/>
              </a:rPr>
              <a:t> with its mean subtracted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1600" spc="-1" strike="noStrike">
                <a:solidFill>
                  <a:srgbClr val="000000"/>
                </a:solidFill>
                <a:latin typeface="Inter"/>
                <a:ea typeface="Inter"/>
              </a:rPr>
              <a:t>Possibly</a:t>
            </a:r>
            <a:r>
              <a:rPr b="0" lang="en-US" sz="1600" spc="-1" strike="noStrike">
                <a:solidFill>
                  <a:srgbClr val="000000"/>
                </a:solidFill>
                <a:latin typeface="Inter"/>
                <a:ea typeface="Inter"/>
              </a:rPr>
              <a:t>: A principal component analysis (PCA) transformation of the above centered spectrum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Outliers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: Don’t use the 18 planets with the worst errors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sldNum" idx="22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CDE062-80C0-480B-8B31-23366EBB261E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Google Shape;119;p 8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Final depth estimation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8" name="Google Shape;120;p 8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17;p 14"/>
          <p:cNvSpPr/>
          <p:nvPr/>
        </p:nvSpPr>
        <p:spPr>
          <a:xfrm>
            <a:off x="343800" y="757440"/>
            <a:ext cx="8114400" cy="38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The standard deviation of r squared is computed with small </a:t>
            </a:r>
            <a:r>
              <a:rPr b="1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neural networks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, one for FGS1 and one for AIRS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7 features for FGS1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11 features for AIRS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Example features: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Predicted r squared values, produced with 5-fold cross validation with 3 repetitions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Parameters u, t_length, d_min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Planet multiplicity, and differences in r squared predictions for the same planet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Standard deviation of the spectrum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sldNum" idx="23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D50517-7B28-428A-B36A-F41CBD09C8BB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Google Shape;119;p 13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Uncertainty estimation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2" name="Google Shape;120;p 13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17;p 15"/>
          <p:cNvSpPr/>
          <p:nvPr/>
        </p:nvSpPr>
        <p:spPr>
          <a:xfrm>
            <a:off x="343800" y="757440"/>
            <a:ext cx="811440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sldNum" idx="24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3F9213-98F1-4C59-820C-164B01530E4E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Google Shape;119;p 14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Principal component analysis (PCA)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6" name="Google Shape;120;p 14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sp>
        <p:nvSpPr>
          <p:cNvPr id="157" name="Google Shape;117;p 16"/>
          <p:cNvSpPr/>
          <p:nvPr/>
        </p:nvSpPr>
        <p:spPr>
          <a:xfrm>
            <a:off x="271800" y="757440"/>
            <a:ext cx="514260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Principal component analysis reveals that the target spectrums are mostly explained by a few components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I approximate each predicted spectrum with the best combination of the 7 most significant components with linear regression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The transformed PCA spectrum is used as a feature, if the Euclidean distance to the original spectrum is at most 0.0015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This covers about 90% of the training data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Two sets of models are trained from scratch, with and without PCA features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5586120" y="951120"/>
            <a:ext cx="3208680" cy="32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17;p 17"/>
          <p:cNvSpPr/>
          <p:nvPr/>
        </p:nvSpPr>
        <p:spPr>
          <a:xfrm>
            <a:off x="343800" y="757440"/>
            <a:ext cx="811440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sldNum" idx="25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CF80D8-3D9C-4648-B49F-09ADFFB47A44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Google Shape;119;p 15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Ensemble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2" name="Google Shape;120;p 15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sp>
        <p:nvSpPr>
          <p:cNvPr id="163" name="Google Shape;117;p 18"/>
          <p:cNvSpPr/>
          <p:nvPr/>
        </p:nvSpPr>
        <p:spPr>
          <a:xfrm>
            <a:off x="343800" y="757440"/>
            <a:ext cx="811440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Each model is trained independently with five different seeds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Predictions and standard deviations are averaged from these five models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Total number of models: 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5 without PCA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 features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5 with PCA features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Num" idx="26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8FD381-2959-44DD-B69D-B55960FE78C0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Google Shape;119;p 5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Score progression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6" name="Google Shape;120;p 5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graphicFrame>
        <p:nvGraphicFramePr>
          <p:cNvPr id="167" name=""/>
          <p:cNvGraphicFramePr/>
          <p:nvPr/>
        </p:nvGraphicFramePr>
        <p:xfrm>
          <a:off x="1227600" y="1160640"/>
          <a:ext cx="6689160" cy="2187720"/>
        </p:xfrm>
        <a:graphic>
          <a:graphicData uri="http://schemas.openxmlformats.org/drawingml/2006/table">
            <a:tbl>
              <a:tblPr/>
              <a:tblGrid>
                <a:gridCol w="3687840"/>
                <a:gridCol w="1513800"/>
                <a:gridCol w="1487880"/>
              </a:tblGrid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Version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Public LB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Private LB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Kalman Smoother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0.404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0.400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Limb darkening simulation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0.575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0.566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PCA features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0.584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0.582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Improved hyperparameters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0.588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0.584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Standard deviation scaled by 1.1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0.590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0.587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17;p 19"/>
          <p:cNvSpPr/>
          <p:nvPr/>
        </p:nvSpPr>
        <p:spPr>
          <a:xfrm>
            <a:off x="343800" y="757440"/>
            <a:ext cx="811440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sldNum" idx="27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8919C1-3A6A-4754-A7C2-B6C167D57804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Google Shape;119;p 16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Computation 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1" name="Google Shape;120;p 16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sp>
        <p:nvSpPr>
          <p:cNvPr id="172" name="Google Shape;117;p 20"/>
          <p:cNvSpPr/>
          <p:nvPr/>
        </p:nvSpPr>
        <p:spPr>
          <a:xfrm>
            <a:off x="343800" y="757440"/>
            <a:ext cx="8114400" cy="24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Local computation times with an RTX 5090: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Preprocessing: </a:t>
            </a:r>
            <a:r>
              <a:rPr b="0" lang="en-US" sz="1600" spc="-1" strike="noStrike">
                <a:solidFill>
                  <a:srgbClr val="c9211e"/>
                </a:solidFill>
                <a:latin typeface="Inter"/>
                <a:ea typeface="Inter"/>
              </a:rPr>
              <a:t>17 minutes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Initial depth estimation: </a:t>
            </a:r>
            <a:r>
              <a:rPr b="0" lang="en-US" sz="1600" spc="-1" strike="noStrike">
                <a:solidFill>
                  <a:srgbClr val="c9211e"/>
                </a:solidFill>
                <a:latin typeface="Inter"/>
                <a:ea typeface="Inter"/>
              </a:rPr>
              <a:t>1 minute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Depth estimation with limb darkening: </a:t>
            </a:r>
            <a:r>
              <a:rPr b="0" lang="en-US" sz="1600" spc="-1" strike="noStrike">
                <a:solidFill>
                  <a:srgbClr val="c9211e"/>
                </a:solidFill>
                <a:latin typeface="Inter"/>
                <a:ea typeface="Inter"/>
              </a:rPr>
              <a:t>3 hours and 35 minutes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Model training: </a:t>
            </a:r>
            <a:r>
              <a:rPr b="0" lang="en-US" sz="1600" spc="-1" strike="noStrike">
                <a:solidFill>
                  <a:srgbClr val="c9211e"/>
                </a:solidFill>
                <a:latin typeface="Inter"/>
                <a:ea typeface="Inter"/>
              </a:rPr>
              <a:t>11 minutes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Inter"/>
                <a:ea typeface="Inter"/>
              </a:rPr>
              <a:t>Bottleneck: Memory usage for transit computation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Inter"/>
                <a:ea typeface="Inter"/>
              </a:rPr>
              <a:t>This step can likely be improved, possibly with a small custom kernel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17;p 3"/>
          <p:cNvSpPr/>
          <p:nvPr/>
        </p:nvSpPr>
        <p:spPr>
          <a:xfrm>
            <a:off x="343800" y="757440"/>
            <a:ext cx="811440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sldNum" idx="28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61C6E2-1F1A-46DF-BC87-168049BFD64F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Google Shape;119;p 3"/>
          <p:cNvSpPr/>
          <p:nvPr/>
        </p:nvSpPr>
        <p:spPr>
          <a:xfrm>
            <a:off x="275040" y="183960"/>
            <a:ext cx="51346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Conclusion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6" name="Google Shape;120;p 3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  <p:sp>
        <p:nvSpPr>
          <p:cNvPr id="177" name="Google Shape;117;p 4"/>
          <p:cNvSpPr/>
          <p:nvPr/>
        </p:nvSpPr>
        <p:spPr>
          <a:xfrm>
            <a:off x="415800" y="865440"/>
            <a:ext cx="811440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Optimization of a bespoke model is tedious and 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does not generalize to other problems, but it can </a:t>
            </a: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work well for a particular problem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Inter"/>
                <a:ea typeface="Inter"/>
              </a:rPr>
              <a:t>General framework for bespoke models?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262626"/>
              </a:buClr>
              <a:buFont typeface="Arial"/>
              <a:buChar char="•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Num" idx="29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2F5864-38AA-4885-9539-E08175603550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Google Shape;232;p20"/>
          <p:cNvSpPr/>
          <p:nvPr/>
        </p:nvSpPr>
        <p:spPr>
          <a:xfrm flipH="1" rot="5400000">
            <a:off x="2173320" y="-2493000"/>
            <a:ext cx="4656960" cy="9587520"/>
          </a:xfrm>
          <a:prstGeom prst="rect">
            <a:avLst/>
          </a:prstGeom>
          <a:solidFill>
            <a:srgbClr val="3cbeec">
              <a:alpha val="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Google Shape;233;p20"/>
          <p:cNvSpPr/>
          <p:nvPr/>
        </p:nvSpPr>
        <p:spPr>
          <a:xfrm>
            <a:off x="2541960" y="1485000"/>
            <a:ext cx="3921120" cy="8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chemeClr val="dk1"/>
                </a:solidFill>
                <a:latin typeface="Inter"/>
                <a:ea typeface="Inter"/>
              </a:rPr>
              <a:t>Summary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239;g2fb201b44d4_0_ 1"/>
          <p:cNvSpPr/>
          <p:nvPr/>
        </p:nvSpPr>
        <p:spPr>
          <a:xfrm>
            <a:off x="580680" y="730440"/>
            <a:ext cx="7720920" cy="38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Inter"/>
                <a:ea typeface="Inter"/>
              </a:rPr>
              <a:t>Key insights: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Inter"/>
                <a:ea typeface="Inter"/>
              </a:rPr>
              <a:t>Importance of high quality features: The small number of planets made it easy to overfit.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Inter"/>
                <a:ea typeface="Inter"/>
              </a:rPr>
              <a:t>The possibility of directly simulating the problem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Inter"/>
                <a:ea typeface="Inter"/>
              </a:rPr>
              <a:t>Biggest advantage: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Inter"/>
                <a:ea typeface="Inter"/>
              </a:rPr>
              <a:t>Using JAX made it easy to implement math heavy simulation and specialized optimization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Inter"/>
                <a:ea typeface="Inter"/>
              </a:rPr>
              <a:t>Most fun: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Inter"/>
                <a:ea typeface="Inter"/>
              </a:rPr>
              <a:t>Animation of a planet moving in front of a star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Inter"/>
                <a:ea typeface="Inter"/>
              </a:rPr>
              <a:t>Making the transit function: A small piece of code that uses both jax.lax.stop_gradient and jax.checkpoint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Inter"/>
                <a:ea typeface="Inter"/>
              </a:rPr>
              <a:t>Successful use of principal component analysis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sldNum" idx="30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4D8967-A01B-4797-88FF-8F8CB13783C0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Google Shape;241;g2fb201b44d4_0_ 2"/>
          <p:cNvSpPr/>
          <p:nvPr/>
        </p:nvSpPr>
        <p:spPr>
          <a:xfrm>
            <a:off x="275040" y="183960"/>
            <a:ext cx="18118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Inter"/>
                <a:ea typeface="Inter"/>
              </a:rPr>
              <a:t>Summary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4" name="Google Shape;242;g2fb201b44d4_0_ 2"/>
          <p:cNvCxnSpPr/>
          <p:nvPr/>
        </p:nvCxnSpPr>
        <p:spPr>
          <a:xfrm>
            <a:off x="304560" y="590400"/>
            <a:ext cx="8597520" cy="360"/>
          </a:xfrm>
          <a:prstGeom prst="straightConnector1">
            <a:avLst/>
          </a:prstGeom>
          <a:ln w="25560">
            <a:solidFill>
              <a:srgbClr val="fae041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Num" idx="31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4C95F0-C2E4-4C2E-9C9E-582CF614E588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Google Shape;249;g2fb201b44d4_0_0"/>
          <p:cNvSpPr/>
          <p:nvPr/>
        </p:nvSpPr>
        <p:spPr>
          <a:xfrm flipH="1" rot="5400000">
            <a:off x="2173320" y="-2493000"/>
            <a:ext cx="4657320" cy="9587520"/>
          </a:xfrm>
          <a:prstGeom prst="rect">
            <a:avLst/>
          </a:prstGeom>
          <a:solidFill>
            <a:srgbClr val="3cbeec">
              <a:alpha val="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250;g2fb201b44d4_0_0"/>
          <p:cNvSpPr/>
          <p:nvPr/>
        </p:nvSpPr>
        <p:spPr>
          <a:xfrm>
            <a:off x="2541960" y="1485000"/>
            <a:ext cx="3921120" cy="16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chemeClr val="dk1"/>
                </a:solidFill>
                <a:latin typeface="Inter"/>
                <a:ea typeface="Inter"/>
              </a:rPr>
              <a:t>Question and Answer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80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255;p21"/>
          <p:cNvSpPr/>
          <p:nvPr/>
        </p:nvSpPr>
        <p:spPr>
          <a:xfrm>
            <a:off x="-190440" y="0"/>
            <a:ext cx="941040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Google Shape;256;p21" descr=""/>
          <p:cNvPicPr/>
          <p:nvPr/>
        </p:nvPicPr>
        <p:blipFill>
          <a:blip r:embed="rId1"/>
          <a:stretch/>
        </p:blipFill>
        <p:spPr>
          <a:xfrm>
            <a:off x="3528360" y="2190600"/>
            <a:ext cx="1972440" cy="761760"/>
          </a:xfrm>
          <a:prstGeom prst="rect">
            <a:avLst/>
          </a:prstGeom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sldNum" idx="32"/>
          </p:nvPr>
        </p:nvSpPr>
        <p:spPr>
          <a:xfrm>
            <a:off x="6934320" y="479484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8b8b8b"/>
                </a:solidFill>
                <a:latin typeface="Inter"/>
                <a:ea typeface="Inte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7043CF-D0EE-4B66-B977-C0FA2D3F4660}" type="slidenum">
              <a:rPr b="0" lang="en-US" sz="800" spc="-1" strike="noStrike">
                <a:solidFill>
                  <a:srgbClr val="8b8b8b"/>
                </a:solidFill>
                <a:latin typeface="Inter"/>
                <a:ea typeface="Inter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Google Shape;258;p21"/>
          <p:cNvSpPr/>
          <p:nvPr/>
        </p:nvSpPr>
        <p:spPr>
          <a:xfrm>
            <a:off x="8610480" y="4705200"/>
            <a:ext cx="380520" cy="3636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Google Shape;259;p21" descr=""/>
          <p:cNvPicPr/>
          <p:nvPr/>
        </p:nvPicPr>
        <p:blipFill>
          <a:blip r:embed="rId2"/>
          <a:stretch/>
        </p:blipFill>
        <p:spPr>
          <a:xfrm rot="8094000">
            <a:off x="-1351440" y="-341640"/>
            <a:ext cx="4189320" cy="2440080"/>
          </a:xfrm>
          <a:prstGeom prst="rect">
            <a:avLst/>
          </a:prstGeom>
          <a:ln w="0">
            <a:noFill/>
          </a:ln>
        </p:spPr>
      </p:pic>
      <p:pic>
        <p:nvPicPr>
          <p:cNvPr id="193" name="Google Shape;260;p21" descr=""/>
          <p:cNvPicPr/>
          <p:nvPr/>
        </p:nvPicPr>
        <p:blipFill>
          <a:blip r:embed="rId3"/>
          <a:stretch/>
        </p:blipFill>
        <p:spPr>
          <a:xfrm rot="18899400">
            <a:off x="5926320" y="2601360"/>
            <a:ext cx="5190120" cy="296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2012-07-01T20:21:58Z</dcterms:created>
  <dc:creator>Chris</dc:creator>
  <dc:description/>
  <dc:language>en-US</dc:language>
  <cp:lastModifiedBy/>
  <dcterms:modified xsi:type="dcterms:W3CDTF">2025-11-07T23:08:29Z</dcterms:modified>
  <cp:revision>89</cp:revision>
  <dc:subject/>
  <dc:title/>
</cp:coreProperties>
</file>